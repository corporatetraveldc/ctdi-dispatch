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CTDI for Executive Protection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CTDI for Executive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Sovereign advance-work and movement-monitoring intelligence</a:t>
            </a:r>
          </a:p>
          <a:p>
            <a:pPr>
              <a:defRPr sz="1800"/>
            </a:pPr>
            <a:r>
              <a:t>Self-hosted on ~$765 of owned edge hardware the operator controls and can unplug</a:t>
            </a:r>
          </a:p>
          <a:p>
            <a:pPr>
              <a:defRPr sz="1800"/>
            </a:pPr>
            <a:r>
              <a:t>Built and run daily by a single founder — CS Executive Services, LLC, Arlington, VA</a:t>
            </a:r>
          </a:p>
          <a:p>
            <a:pPr>
              <a:defRPr sz="1800"/>
            </a:pPr>
            <a:r>
              <a:t>Investor briefing — executive-protection segment — August 2026</a:t>
            </a:r>
          </a:p>
          <a:p>
            <a:pPr>
              <a:defRPr sz="1800"/>
            </a:pPr>
            <a:r>
              <a:t>Every claim re-verified live against the production system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Advance teams work from fragmented, non-integrated sources: flight status in one app, rail in another, weather and TFRs in browser tabs and phone calls</a:t>
            </a:r>
          </a:p>
          <a:p>
            <a:pPr>
              <a:defRPr sz="1800"/>
            </a:pPr>
            <a:r>
              <a:t>The critical go/no-go call is made on gut feel; when a client, insurer, or lawyer asks "why did you roll?", there is no defensible record</a:t>
            </a:r>
          </a:p>
          <a:p>
            <a:pPr>
              <a:defRPr sz="1800"/>
            </a:pPr>
            <a:r>
              <a:t>EP firms and GSOCs handle principal movement data they cannot push into third-party SaaS — sovereign options barely exist</a:t>
            </a:r>
          </a:p>
          <a:p>
            <a:pPr>
              <a:defRPr sz="1800"/>
            </a:pPr>
            <a:r>
              <a:t>The data that matters most for protective advance work — FAA flow programs, arrival metering, terminal wind-shear, unfiltered blocked-aircraft visibility — is not for sale from any commercial vendor at any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One sovereign platform ingesting aviation, rail, weather, and airspace — including all six FAA SWIM services under real, approved credentials</a:t>
            </a:r>
          </a:p>
          <a:p>
            <a:pPr>
              <a:defRPr sz="1800"/>
            </a:pPr>
            <a:r>
              <a:t>A deterministic 6-factor go/no-go score anchored to 14 CFR 135.609 minimums — a 288-line auditable rule engine, not ML, not a black box; every state explainable to a client, insurer, or counsel</a:t>
            </a:r>
          </a:p>
          <a:p>
            <a:pPr>
              <a:defRPr sz="1800"/>
            </a:pPr>
            <a:r>
              <a:t>Real-time alerts through self-hosted channels; protective-movement briefs written by a local LLM on the Pi — nothing leaves the hardware</a:t>
            </a:r>
          </a:p>
          <a:p>
            <a:pPr>
              <a:defRPr sz="1800"/>
            </a:pPr>
            <a:r>
              <a:t>Runs entirely on hardware the client controls; principal itineraries, watchlists, and movement data never depend on a third-party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 for advance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flight tracking (6 FAA SWIM feeds + own-RF ADS-B); aircraft watchlists with hex-resolution, OOOI phase tracking, and real airline-reported 14-day on-time history with delay-drift flags</a:t>
            </a:r>
          </a:p>
          <a:p>
            <a:pPr>
              <a:defRPr sz="1800"/>
            </a:pPr>
            <a:r>
              <a:t>Live Amtrak rail tracking; DC-area METARs; NWS/NWWS-OI severe-weather alerts; TFR and NAS airspace awareness</a:t>
            </a:r>
          </a:p>
          <a:p>
            <a:pPr>
              <a:defRPr sz="1800"/>
            </a:pPr>
            <a:r>
              <a:t>Scheduled on-device `ep-advance`/`ep` protective-movement briefs — 21 local models, $0 cloud spend (measured over 25,147 calls, 46 days)</a:t>
            </a:r>
          </a:p>
          <a:p>
            <a:pPr>
              <a:defRPr sz="1800"/>
            </a:pPr>
            <a:r>
              <a:t>Cross-category entity tracking across six intelligence watches + OSINT, with independent-feed corroboration, a human review gate, and silence/embargo detection</a:t>
            </a:r>
          </a:p>
          <a:p>
            <a:pPr>
              <a:defRPr sz="1800"/>
            </a:pPr>
            <a:r>
              <a:t>Institutional memory: a 6,742-document knowledge vault under a semantic + causal layer (99 concepts, 51,317 edges), recompiled daily — advance knowledge that accumulates on client-controlled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is the differentiator — not a footnote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EP buyers evaluate their own tooling the way they evaluate a venue: by finding what's wrong with it. This platform is built to reward that</a:t>
            </a:r>
          </a:p>
          <a:p>
            <a:pPr>
              <a:defRPr sz="1800"/>
            </a:pPr>
            <a:r>
              <a:t>Controls re-tested live on a recurring cadence — bounded, non-destructive passes 2026-08-13 and 2026-08-24; stated plainly as founder-run self-assessment, not a third-party audit</a:t>
            </a:r>
          </a:p>
          <a:p>
            <a:pPr>
              <a:defRPr sz="1800"/>
            </a:pPr>
            <a:r>
              <a:t>Bearer-token-only auth, network origin grants no tier; anonymous, forged, malformed, and spoofed-origin probes all rejected (403) live, including under adversarial header variants</a:t>
            </a:r>
          </a:p>
          <a:p>
            <a:pPr>
              <a:defRPr sz="1800"/>
            </a:pPr>
            <a:r>
              <a:t>Credentials stored as one-way hashes only; secrets file owner-only; GPG-signed whole-tree manifest raises and refuses to execute on any tamper; every admin action audit-logged (actor/action/tier/IP/payload)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find our own issues — and close them same-day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08-24 testing found two real issues in our own system: the repaired public demo briefly had the production database mounted (writable), and shared the production chat file</a:t>
            </a:r>
          </a:p>
          <a:p>
            <a:pPr>
              <a:defRPr sz="1800"/>
            </a:pPr>
            <a:r>
              <a:t>Both fixed the same day — demo relocated onto a hardened sibling directory containing no production file at all</a:t>
            </a:r>
          </a:p>
          <a:p>
            <a:pPr>
              <a:defRPr sz="1800"/>
            </a:pPr>
            <a:r>
              <a:t>An adversarial re-verification then confirmed the fix live against the running container: demo can no longer see, read, or write any production file; nothing reopened; no new exposure found</a:t>
            </a:r>
          </a:p>
          <a:p>
            <a:pPr>
              <a:defRPr sz="1800"/>
            </a:pPr>
            <a:r>
              <a:t>For this audience, a review that finds real things and closes them under pressure is a stronger signal than a suspiciously clean record — and the isolation is now structurally stronger than before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Principal-location data protection — architectural, not promised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 receiver GPS coordinates live only in the owner-only secrets file, never in tracked files, and are on the public-mirror scrub list — verifiable in code</a:t>
            </a:r>
          </a:p>
          <a:p>
            <a:pPr>
              <a:defRPr sz="1800"/>
            </a:pPr>
            <a:r>
              <a:t>The coordinate endpoint trust-gates the real location; an untrusted caller gets a fixed placeholder</a:t>
            </a:r>
          </a:p>
          <a:p>
            <a:pPr>
              <a:defRPr sz="1800"/>
            </a:pPr>
            <a:r>
              <a:t>The public demo container structurally cannot leak coordinates — it loads only the non-secret config, so it has no secret to leak</a:t>
            </a:r>
          </a:p>
          <a:p>
            <a:pPr>
              <a:defRPr sz="1800"/>
            </a:pPr>
            <a:r>
              <a:t>Open and disclosed: the trust boundary currently depends on a Cloudflare header with no app-layer backstop — named as a hardening candidate, not hidden (not exploitable in today's topology)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on ~$765 one-time hardware + ~$23-39/yr electricity; $0 data-feed fees; $0 cloud-LLM spend — measured, not assumed</a:t>
            </a:r>
          </a:p>
          <a:p>
            <a:pPr>
              <a:defRPr sz="1800"/>
            </a:pPr>
            <a:r>
              <a:t>Purchasable subset of live capability lists at ~$55k-113k/yr in commercial subscriptions — a floor, since the largest equivalents are quote-only</a:t>
            </a:r>
          </a:p>
          <a:p>
            <a:pPr>
              <a:defRPr sz="1800"/>
            </a:pPr>
            <a:r>
              <a:t>Honest split: actual avoided cost is ~$2.2-2.7k/yr (mostly barter); the $55k-113k figure is replacement cost for a buyer without FAA vetting — never presented as avoided spend</a:t>
            </a:r>
          </a:p>
          <a:p>
            <a:pPr>
              <a:defRPr sz="1800"/>
            </a:pPr>
            <a:r>
              <a:t>Ten live capabilities cannot be bought at any price: TFMS flow programs, TBFM metering, ITWS wind-shear, unfiltered blocked-aircraft visibility, receive-side ACARS/VDL, a permanently-owned corpus, and the signed execution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— BSL 1.1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Business Source License 1.1 adopted 2026-08-24 — Licensor: CS Executive Services, LLC</a:t>
            </a:r>
          </a:p>
          <a:p>
            <a:pPr>
              <a:defRPr sz="1800"/>
            </a:pPr>
            <a:r>
              <a:t>Free always for non-production use; free in production for personal self-hosting and internal relay/middleware use</a:t>
            </a:r>
          </a:p>
          <a:p>
            <a:pPr>
              <a:defRPr sz="1800"/>
            </a:pPr>
            <a:r>
              <a:t>Commercial license required the moment CTDI touches any fee-based client service — even invisibly, even bundled into a retainer; hosted resale and white-labeling always require one</a:t>
            </a:r>
          </a:p>
          <a:p>
            <a:pPr>
              <a:defRPr sz="1800"/>
            </a:pPr>
            <a:r>
              <a:t>Each version converts to GPL v3-or-later four years after publication (Change Date 2030-08-24) — protected now, credibly open later</a:t>
            </a:r>
          </a:p>
          <a:p>
            <a:pPr>
              <a:defRPr sz="1800"/>
            </a:pPr>
            <a:r>
              <a:t>Disclosed: use-grant language under legal review, not yet counsel-confirmed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honest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and VERIFIED: six SWIM feeds, CPS engine, watchlists, alerting, on-device briefs, entity tracking, knowledge layer, audit trail, integrity chain</a:t>
            </a:r>
          </a:p>
          <a:p>
            <a:pPr>
              <a:defRPr sz="1800"/>
            </a:pPr>
            <a:r>
              <a:t>LIVE with disclosed caveats: feeds duty-cycled under load governance (10 shed/restore cycles in ~32 h — no SLA); ~42% LLM deterministic-fallback rate; ACARS RF received but DB fusion pending</a:t>
            </a:r>
          </a:p>
          <a:p>
            <a:pPr>
              <a:defRPr sz="1800"/>
            </a:pPr>
            <a:r>
              <a:t>ROADMAP / NOT BUILT — stated plainly: multi-tenancy, billing, CRM, backup/DR, CI, CPS unit test, maritime AIS (fully dormant), demand (runsheet shows one trip)</a:t>
            </a:r>
          </a:p>
          <a:p>
            <a:pPr>
              <a:defRPr sz="1800"/>
            </a:pPr>
            <a:r>
              <a:t>Withdrawn: MCP integration (retired 2026-08-18), always-on availability, and — pending a gating decision — a live public demo 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Pre-revenue by construction: no billing or customer-account code; the company site deliberately does not market CTDI yet</a:t>
            </a:r>
          </a:p>
          <a:p>
            <a:pPr>
              <a:defRPr sz="1800"/>
            </a:pPr>
            <a:r>
              <a:t>Reference deployment: the founder's own executive-chauffeur operation, running continuously since June 2026</a:t>
            </a:r>
          </a:p>
          <a:p>
            <a:pPr>
              <a:defRPr sz="1800"/>
            </a:pPr>
            <a:r>
              <a:t>Data-rights model: each client holds its own source credentials; CTDI ships software, not redistributed data — template-supported today</a:t>
            </a:r>
          </a:p>
          <a:p>
            <a:pPr>
              <a:defRPr sz="1800"/>
            </a:pPr>
            <a:r>
              <a:t>Demo machinery is real: a 2.45 GB recorded-replay corpus with isolation adversarially verified; demo access arranged in diligence conversations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Productize: multi-tenancy, billing/entitlements, backup and DR, CI, CPS unit test</a:t>
            </a:r>
          </a:p>
          <a:p>
            <a:pPr>
              <a:defRPr sz="1800"/>
            </a:pPr>
            <a:r>
              <a:t>Commission a first third-party security assessment; close the disclosed trust-boundary dependency and credential-lifecycle hygiene</a:t>
            </a:r>
          </a:p>
          <a:p>
            <a:pPr>
              <a:defRPr sz="1800"/>
            </a:pPr>
            <a:r>
              <a:t>Formalize data-source agreements and finalize BSL terms with counsel</a:t>
            </a:r>
          </a:p>
          <a:p>
            <a:pPr>
              <a:defRPr sz="1800"/>
            </a:pPr>
            <a:r>
              <a:t>Sign 2-3 EP / secure-transport / GSOC design partners via the replay-demo motion; co-define pricing</a:t>
            </a:r>
          </a:p>
          <a:p>
            <a:pPr>
              <a:defRPr sz="1800"/>
            </a:pPr>
            <a:r>
              <a:t>First engineering hire to retire bus-factor-1</a:t>
            </a:r>
          </a:p>
          <a:p>
            <a:pPr>
              <a:defRPr sz="1800"/>
            </a:pPr>
            <a:r>
              <a:t>Founder-authoritative mode targets: maritime AIS end 2026; eVTOL operational awareness spring 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EP, secure-transport, and GSOC design partners to pilot CTDI on hardware they control — plus seed capital to fund the roadmap</a:t>
            </a:r>
          </a:p>
          <a:p>
            <a:pPr>
              <a:defRPr sz="1800"/>
            </a:pPr>
            <a:r>
              <a:t>No valuation, revenue projection, or market-size figure is presented — the fact base does not yet support one, and we will not invent numbers</a:t>
            </a:r>
          </a:p>
          <a:p>
            <a:pPr>
              <a:defRPr sz="1800"/>
            </a:pPr>
            <a:r>
              <a:t>What you get today: a running, re-verified, integrity-gated sovereign platform; a permanently-owned data corpus; a defensible economic story; and a security culture that finds and fixes its own issues in the open</a:t>
            </a:r>
          </a:p>
          <a:p>
            <a:pPr>
              <a:defRPr sz="1800"/>
            </a:pPr>
            <a:r>
              <a:t>Next step: live walkthrough of the production system and demo replay — 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