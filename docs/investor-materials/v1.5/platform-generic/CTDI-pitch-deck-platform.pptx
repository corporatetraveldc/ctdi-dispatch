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CTDI - Corporate Travel Dispatch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CTDI — Corporate Travel Dispatch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 24/7 multi-domain dispatch-intelligence platform: air, rail, weather, airspace</a:t>
            </a:r>
          </a:p>
          <a:p>
            <a:pPr>
              <a:defRPr sz="1800"/>
            </a:pPr>
            <a:r>
              <a:t>Self-hosted on ~$765 of owned edge hardware; zero cloud dependency for core ops</a:t>
            </a:r>
          </a:p>
          <a:p>
            <a:pPr>
              <a:defRPr sz="1800"/>
            </a:pPr>
            <a:r>
              <a:t>Built and operated by a single founder — CS Executive Services, LLC, Arlington, VA</a:t>
            </a:r>
          </a:p>
          <a:p>
            <a:pPr>
              <a:defRPr sz="1800"/>
            </a:pPr>
            <a:r>
              <a:t>Investor briefing — platform overview — August 2026</a:t>
            </a:r>
          </a:p>
          <a:p>
            <a:pPr>
              <a:defRPr sz="1800"/>
            </a:pPr>
            <a:r>
              <a:t>Every claim re-verified live against the production system 2026-08-24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 single ground or air movement depends on flight status, rail status, weather minimums, and airspace restrictions — today those live in separate apps, tabs, and phone calls</a:t>
            </a:r>
          </a:p>
          <a:p>
            <a:pPr>
              <a:defRPr sz="1800"/>
            </a:pPr>
            <a:r>
              <a:t>The critical go/no-go dispatch call is made on gut feel; when a client, insurer, or lawyer asks "why did you roll?", there is no defensible record</a:t>
            </a:r>
          </a:p>
          <a:p>
            <a:pPr>
              <a:defRPr sz="1800"/>
            </a:pPr>
            <a:r>
              <a:t>Executive-services and security-conscious operators handle movement data they cannot push into third-party SaaS — sovereign options barely exist</a:t>
            </a:r>
          </a:p>
          <a:p>
            <a:pPr>
              <a:defRPr sz="1800"/>
            </a:pPr>
            <a:r>
              <a:t>The data that matters most (FAA flow programs, arrival metering, terminal wind-shear alerts) is not for sale from any commercial vendor at any price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CTDI ingests aviation, rail, weather, and airspace data — including all six FAA SWIM data services under real, approved credentials</a:t>
            </a:r>
          </a:p>
          <a:p>
            <a:pPr>
              <a:defRPr sz="1800"/>
            </a:pPr>
            <a:r>
              <a:t>Computes the CPS: a deterministic 6-factor go/no-go score anchored to published Part 135.609 minimums — a 288-line auditable rule engine, not ML, not a black box</a:t>
            </a:r>
          </a:p>
          <a:p>
            <a:pPr>
              <a:defRPr sz="1800"/>
            </a:pPr>
            <a:r>
              <a:t>Pushes real-time alerts to operators via self-hosted channels; local LLM writes narrative briefs (21 on-device models, $0 cloud spend — measured)</a:t>
            </a:r>
          </a:p>
          <a:p>
            <a:pPr>
              <a:defRPr sz="1800"/>
            </a:pPr>
            <a:r>
              <a:t>Accumulates a permanently-owned operational corpus and knowledge graph that compounds daily</a:t>
            </a:r>
          </a:p>
          <a:p>
            <a:pPr>
              <a:defRPr sz="1800"/>
            </a:pPr>
            <a:r>
              <a:t>Built to run the founder's own executive-chauffeur operation; packaged for white-label use by ground-transport and executive-services operators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Ingest: 19-feed registry — 6 FAA SWIM services, NWS/NWWS-OI push weather, TFR/NAS status, Amtrak, airport boards, own-RF ADS-B and ACARS/VDL receivers</a:t>
            </a:r>
          </a:p>
          <a:p>
            <a:pPr>
              <a:defRPr sz="1800"/>
            </a:pPr>
            <a:r>
              <a:t>Intelligence: deterministic CPS engine, watchlists with real airline-reported on-time history, entity tracking, scheduled LLM briefs</a:t>
            </a:r>
          </a:p>
          <a:p>
            <a:pPr>
              <a:defRPr sz="1800"/>
            </a:pPr>
            <a:r>
              <a:t>Memory: 6,742-document knowledge vault under a compiled semantic layer — 99 concepts, 51,317 edges, causal derivation graph, recompiled daily by timer</a:t>
            </a:r>
          </a:p>
          <a:p>
            <a:pPr>
              <a:defRPr sz="1800"/>
            </a:pPr>
            <a:r>
              <a:t>Integrity: GPG-signed 706-file manifest gates skill execution and inference; 32 audit-logged admin endpoints; bearer-token-only auth</a:t>
            </a:r>
          </a:p>
          <a:p>
            <a:pPr>
              <a:defRPr sz="1800"/>
            </a:pPr>
            <a:r>
              <a:t>Platform: one Raspberry Pi 5, rootless containers, ~38 running at check, automatic load-shed governance with verified self-restore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proof — verified 2026-08-24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/healthz ok, snapshot age 3 seconds; CPS GREEN/GO at check</a:t>
            </a:r>
          </a:p>
          <a:p>
            <a:pPr>
              <a:defRPr sz="1800"/>
            </a:pPr>
            <a:r>
              <a:t>839,101 flight events (32,459 in 24 h, 1,270 airlines); 822,317 train events; 5,424 NOTAMs; 121 active TFRs</a:t>
            </a:r>
          </a:p>
          <a:p>
            <a:pPr>
              <a:defRPr sz="1800"/>
            </a:pPr>
            <a:r>
              <a:t>35,615 TBFM arrival-metering sequences; 120,071 surface-movement events; 24,588 NAS program records</a:t>
            </a:r>
          </a:p>
          <a:p>
            <a:pPr>
              <a:defRPr sz="1800"/>
            </a:pPr>
            <a:r>
              <a:t>Own-RF: 17 aircraft in view at ~108 messages/s; ACARS/VDL receive current to the minute</a:t>
            </a:r>
          </a:p>
          <a:p>
            <a:pPr>
              <a:defRPr sz="1800"/>
            </a:pPr>
            <a:r>
              <a:t>272 LLM briefs in 7 days (41.7% deterministic-fallback rate disclosed); audit log 3,384 entries in 24 h</a:t>
            </a:r>
          </a:p>
          <a:p>
            <a:pPr>
              <a:defRPr sz="1800"/>
            </a:pPr>
            <a:r>
              <a:t>51,070 Python LOC, 102 REST routes, 635 single-author commits, 218 tests (217 pass, 1 known)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economics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Runs on ~$765 one-time hardware + ~$23-39/yr electricity; $0 data-feed fees; $0 cloud-LLM spend — measured over 25,147 logged calls, 46 days</a:t>
            </a:r>
          </a:p>
          <a:p>
            <a:pPr>
              <a:defRPr sz="1800"/>
            </a:pPr>
            <a:r>
              <a:t>Purchasable subset of live capability lists at ~$55k-113k/yr in commercial subscriptions — a floor, since the largest equivalents are quote-only</a:t>
            </a:r>
          </a:p>
          <a:p>
            <a:pPr>
              <a:defRPr sz="1800"/>
            </a:pPr>
            <a:r>
              <a:t>Honest split: actual avoided cost is ~$2.2-2.7k/yr (mostly barter); the $55k-113k figure is replacement cost for a buyer without FAA vetting — never presented as avoided spend</a:t>
            </a:r>
          </a:p>
          <a:p>
            <a:pPr>
              <a:defRPr sz="1800"/>
            </a:pPr>
            <a:r>
              <a:t>Ten live capabilities are not purchasable at any price (next slide)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money cannot buy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TFMS: ground stops, ground-delay programs, airspace flow programs — no commercial product exists</a:t>
            </a:r>
          </a:p>
          <a:p>
            <a:pPr>
              <a:defRPr sz="1800"/>
            </a:pPr>
            <a:r>
              <a:t>TBFM arrival metering and ITWS terminal wind-shear alerts — none</a:t>
            </a:r>
          </a:p>
          <a:p>
            <a:pPr>
              <a:defRPr sz="1800"/>
            </a:pPr>
            <a:r>
              <a:t>Unfiltered blocked-aircraft visibility: own RF is not LADD-bound; every commercial feed obfuscates</a:t>
            </a:r>
          </a:p>
          <a:p>
            <a:pPr>
              <a:defRPr sz="1800"/>
            </a:pPr>
            <a:r>
              <a:t>Receive-side ACARS/VDL — no third-party receive feed exists globally</a:t>
            </a:r>
          </a:p>
          <a:p>
            <a:pPr>
              <a:defRPr sz="1800"/>
            </a:pPr>
            <a:r>
              <a:t>A permanently-owned longitudinal corpus — term licenses require destruction on exit</a:t>
            </a:r>
          </a:p>
          <a:p>
            <a:pPr>
              <a:defRPr sz="1800"/>
            </a:pPr>
            <a:r>
              <a:t>Scheduled LLM briefs over a private multi-source corpus with an auto-built concept graph</a:t>
            </a:r>
          </a:p>
          <a:p>
            <a:pPr>
              <a:defRPr sz="1800"/>
            </a:pPr>
            <a:r>
              <a:t>Signed whole-tree execution gating and per-skill content-hash gates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and trust posture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Controls re-tested live on a recurring cadence: bounded, non-destructive passes 2026-08-13 and 2026-08-24</a:t>
            </a:r>
          </a:p>
          <a:p>
            <a:pPr>
              <a:defRPr sz="1800"/>
            </a:pPr>
            <a:r>
              <a:t>Every open finding from the prior pass closed and independently re-verified — including its highest-severity issue</a:t>
            </a:r>
          </a:p>
          <a:p>
            <a:pPr>
              <a:defRPr sz="1800"/>
            </a:pPr>
            <a:r>
              <a:t>Authorization held on every probe: anonymous, forged, malformed, and spoofed-origin requests all rejected</a:t>
            </a:r>
          </a:p>
          <a:p>
            <a:pPr>
              <a:defRPr sz="1800"/>
            </a:pPr>
            <a:r>
              <a:t>The find-fix-verify loop demonstrably works: new findings on 08-24 were fixed same-day and survived a hostile adversarial re-verification — nothing reopened</a:t>
            </a:r>
          </a:p>
          <a:p>
            <a:pPr>
              <a:defRPr sz="1800"/>
            </a:pPr>
            <a:r>
              <a:t>Stated plainly: founder-run self-assessment, not a third-party audit; no certification claimed; first external pentest is a funded roadmap item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Licensing model — BSL 1.1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Business Source License 1.1 adopted 2026-08-24 — Licensor: CS Executive Services, LLC</a:t>
            </a:r>
          </a:p>
          <a:p>
            <a:pPr>
              <a:defRPr sz="1800"/>
            </a:pPr>
            <a:r>
              <a:t>Free always for non-production use; free in production for personal self-hosting and internal relay/middleware use</a:t>
            </a:r>
          </a:p>
          <a:p>
            <a:pPr>
              <a:defRPr sz="1800"/>
            </a:pPr>
            <a:r>
              <a:t>Commercial license required the moment CTDI touches any fee-based client service — even invisibly, even bundled into a retainer</a:t>
            </a:r>
          </a:p>
          <a:p>
            <a:pPr>
              <a:defRPr sz="1800"/>
            </a:pPr>
            <a:r>
              <a:t>Hosted resale, white-labeling, and platform absorption always require a commercial license</a:t>
            </a:r>
          </a:p>
          <a:p>
            <a:pPr>
              <a:defRPr sz="1800"/>
            </a:pPr>
            <a:r>
              <a:t>Each version converts to GPL v3-or-later after four years (current Change Date: 2030-08-24) — protected now, credibly open later</a:t>
            </a:r>
          </a:p>
          <a:p>
            <a:pPr>
              <a:defRPr sz="1800"/>
            </a:pPr>
            <a:r>
              <a:t>Disclosed: use-grant language under legal review, not yet counsel-confirmed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state — honest tiers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LIVE and VERIFIED: six SWIM feeds, CPS engine, alerting, own-RF receive, LLM briefs, audit trail, knowledge layer, integrity chain</a:t>
            </a:r>
          </a:p>
          <a:p>
            <a:pPr>
              <a:defRPr sz="1800"/>
            </a:pPr>
            <a:r>
              <a:t>LIVE with disclosed caveats: feeds duty-cycled under load governance (10 shed/restore cycles in ~32 h — no SLA); 41.7% LLM fallback rate; ACARS DB fusion pending</a:t>
            </a:r>
          </a:p>
          <a:p>
            <a:pPr>
              <a:defRPr sz="1800"/>
            </a:pPr>
            <a:r>
              <a:t>ROADMAP / ABSENT — stated plainly: multi-tenancy, billing, CRM, backup/DR, CI, CPS unit test, maritime AIS (fully dormant), demand (runsheet shows one trip)</a:t>
            </a:r>
          </a:p>
          <a:p>
            <a:pPr>
              <a:defRPr sz="1800"/>
            </a:pPr>
            <a:r>
              <a:t>Withdrawn claims: MCP integration (retired 2026-08-18), always-on availability, live public demo link (gating decision pending)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Pre-revenue by construction: no billing or customer-account code; the company site deliberately does not market CTDI yet</a:t>
            </a:r>
          </a:p>
          <a:p>
            <a:pPr>
              <a:defRPr sz="1800"/>
            </a:pPr>
            <a:r>
              <a:t>Reference deployment: the founder's own operation, running continuously since June 2026</a:t>
            </a:r>
          </a:p>
          <a:p>
            <a:pPr>
              <a:defRPr sz="1800"/>
            </a:pPr>
            <a:r>
              <a:t>Four adjacent verticals identified: executive ground transport, corporate travel and concierge, aviation ops decision support, executive protection</a:t>
            </a:r>
          </a:p>
          <a:p>
            <a:pPr>
              <a:defRPr sz="1800"/>
            </a:pPr>
            <a:r>
              <a:t>Data-rights model: each client holds its own source credentials; CTDI ships software, not redistributed data — template-supported today</a:t>
            </a:r>
          </a:p>
          <a:p>
            <a:pPr>
              <a:defRPr sz="1800"/>
            </a:pPr>
            <a:r>
              <a:t>Demo machinery real: 2.45 GB replay corpus, isolation adversarially verified; access arranged in diligence conversations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Productize: multi-tenancy, billing/entitlements, backup and DR, CI, security-hygiene closure</a:t>
            </a:r>
          </a:p>
          <a:p>
            <a:pPr>
              <a:defRPr sz="1800"/>
            </a:pPr>
            <a:r>
              <a:t>Commission a first third-party security assessment</a:t>
            </a:r>
          </a:p>
          <a:p>
            <a:pPr>
              <a:defRPr sz="1800"/>
            </a:pPr>
            <a:r>
              <a:t>Formalize data rights and finalize BSL terms with counsel</a:t>
            </a:r>
          </a:p>
          <a:p>
            <a:pPr>
              <a:defRPr sz="1800"/>
            </a:pPr>
            <a:r>
              <a:t>Sign 2-3 design partners via the replay-demo motion; co-define pricing</a:t>
            </a:r>
          </a:p>
          <a:p>
            <a:pPr>
              <a:defRPr sz="1800"/>
            </a:pPr>
            <a:r>
              <a:t>First engineering hire to retire bus-factor-1</a:t>
            </a:r>
          </a:p>
          <a:p>
            <a:pPr>
              <a:defRPr sz="1800"/>
            </a:pPr>
            <a:r>
              <a:t>Mode expansion, founder-authoritative targets: maritime AIS by end 2026; eVTOL operational awareness spring 2027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Seed capital and/or strategic partners to turn a verified platform into a business</a:t>
            </a:r>
          </a:p>
          <a:p>
            <a:pPr>
              <a:defRPr sz="1800"/>
            </a:pPr>
            <a:r>
              <a:t>No valuation, revenue projection, or market-size figure is presented — the fact base does not yet support one, and we will not invent numbers</a:t>
            </a:r>
          </a:p>
          <a:p>
            <a:pPr>
              <a:defRPr sz="1800"/>
            </a:pPr>
            <a:r>
              <a:t>What you get today: a running, re-verified, integrity-gated platform; a permanently-owned data corpus; a defensible economic story; and an evidence culture built for diligence</a:t>
            </a:r>
          </a:p>
          <a:p>
            <a:pPr>
              <a:defRPr sz="1800"/>
            </a:pPr>
            <a:r>
              <a:t>Next step: live walkthrough of the production system and demo replay — info@example.com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