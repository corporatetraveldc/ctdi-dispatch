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CTDI — Executive Ground Transport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CTDI — flight and train intelligence for executive ground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Real-time flight, rail, weather, and airspace intelligence — relayed into the dispatch software you already run</a:t>
            </a:r>
          </a:p>
          <a:p>
            <a:pPr>
              <a:defRPr sz="1800"/>
            </a:pPr>
            <a:r>
              <a:t>A relay/middleware layer by design and by license: CTDI feeds LimoAnywhere-class dispatch platforms, it never replaces them</a:t>
            </a:r>
          </a:p>
          <a:p>
            <a:pPr>
              <a:defRPr sz="1800"/>
            </a:pPr>
            <a:r>
              <a:t>Built and operated by a chauffeur-operation principal — CS Executive Services, LLC, Arlington, VA</a:t>
            </a:r>
          </a:p>
          <a:p>
            <a:pPr>
              <a:defRPr sz="1800"/>
            </a:pPr>
            <a:r>
              <a:t>Investor briefing — executive ground transportation — August 2026</a:t>
            </a:r>
          </a:p>
          <a:p>
            <a:pPr>
              <a:defRPr sz="1800"/>
            </a:pPr>
            <a:r>
              <a:t>Every claim re-verified live against the production system 2026-08-24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dispatch finds out last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 executive fleet's margin lives in the gap between when the traveler actually lands and when the dispatcher finds out</a:t>
            </a:r>
          </a:p>
          <a:p>
            <a:pPr>
              <a:defRPr sz="1800"/>
            </a:pPr>
            <a:r>
              <a:t>The inbound slips; the chauffeur idles at the curb; wait-time policy collides with the client experience; later pickups cascade</a:t>
            </a:r>
          </a:p>
          <a:p>
            <a:pPr>
              <a:defRPr sz="1800"/>
            </a:pPr>
            <a:r>
              <a:t>Today the picture is stitched from FIDS screens, airline apps, Amtrak pages, weather sites, and phone calls — none of it pushes to the people on the curb</a:t>
            </a:r>
          </a:p>
          <a:p>
            <a:pPr>
              <a:defRPr sz="1800"/>
            </a:pPr>
            <a:r>
              <a:t>The dispatch software of record (LimoAnywhere and its peers) manages reservations and drivers superbly — it does not watch the national airspace system</a:t>
            </a:r>
          </a:p>
          <a:p>
            <a:pPr>
              <a:defRPr sz="1800"/>
            </a:pPr>
            <a:r>
              <a:t>The data that decides the day (ground stops, flow programs, arrival metering, real airline-reported delays) is not in any consumer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 relay into your existing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CTDI ingests all six FAA SWIM data services under real, approved credentials, plus Amtrak, weather, TFR/NOTAM, and its own RF receivers</a:t>
            </a:r>
          </a:p>
          <a:p>
            <a:pPr>
              <a:defRPr sz="1800"/>
            </a:pPr>
            <a:r>
              <a:t>Reservations flow in via a credential-gated LimoAnywhere webhook or a simple watchlist API — no code changes on the dispatch side</a:t>
            </a:r>
          </a:p>
          <a:p>
            <a:pPr>
              <a:defRPr sz="1800"/>
            </a:pPr>
            <a:r>
              <a:t>Watched flights and trains push real-time alerts to dispatcher and driver phones over self-hosted channels, deduplicated, throttled per topic</a:t>
            </a:r>
          </a:p>
          <a:p>
            <a:pPr>
              <a:defRPr sz="1800"/>
            </a:pPr>
            <a:r>
              <a:t>Your reservations, clients, billing, and driver assignments never move — CTDI is the intelligence feed, not a second dispatch system</a:t>
            </a:r>
          </a:p>
          <a:p>
            <a:pPr>
              <a:defRPr sz="1800"/>
            </a:pPr>
            <a:r>
              <a:t>The relay boundary is contractual, not just architectural: the license itself is written around the relay/middleware relationship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Dispatch-timing intelligence — new and live-verified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Real airline-reported on-time history: actual out/off/on/in times from FAA TFMS against the airline's own schedule — actual-vs-schedule, not estimate-vs-estimate — returned on the watchlist-add call at reservation time</a:t>
            </a:r>
          </a:p>
          <a:p>
            <a:pPr>
              <a:defRPr sz="1800"/>
            </a:pPr>
            <a:r>
              <a:t>Delay-drift flags: oldest-third vs newest-third trend per leg (10-minute default) — catches a flight trending worse while its on-time rate still looks fine</a:t>
            </a:r>
          </a:p>
          <a:p>
            <a:pPr>
              <a:defRPr sz="1800"/>
            </a:pPr>
            <a:r>
              <a:t>Identity resolution at pushback: the moment the airline reports OUT, CTDI resolves the actual airframe and pushes a one-time live tracking link</a:t>
            </a:r>
          </a:p>
          <a:p>
            <a:pPr>
              <a:defRPr sz="1800"/>
            </a:pPr>
            <a:r>
              <a:t>Delay-extended watch windows: a flight departing two hours late is watched two hours longer — never silently dropped mid-inbound</a:t>
            </a:r>
          </a:p>
          <a:p>
            <a:pPr>
              <a:defRPr sz="1800"/>
            </a:pPr>
            <a:r>
              <a:t>Disclosed: history capture is watchlist-gated and began 2026-08-20 — young data, honestly labeled insufficient until it accumulates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proof — verified 2026-08-24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/healthz ok, data snapshot age 3 seconds; CPS risk score GREEN/GO at check</a:t>
            </a:r>
          </a:p>
          <a:p>
            <a:pPr>
              <a:defRPr sz="1800"/>
            </a:pPr>
            <a:r>
              <a:t>839,101 flight events (32,459 in 24 h, 1,270 airlines); 822,317 Amtrak train events</a:t>
            </a:r>
          </a:p>
          <a:p>
            <a:pPr>
              <a:defRPr sz="1800"/>
            </a:pPr>
            <a:r>
              <a:t>121 active TFRs; 5,424 NOTAMs across 308 facilities; live METARs; NWS push weather writing real DC-area products</a:t>
            </a:r>
          </a:p>
          <a:p>
            <a:pPr>
              <a:defRPr sz="1800"/>
            </a:pPr>
            <a:r>
              <a:t>24,588 NAS program records (ground stops, GDPs, airspace flow programs); 35,615 TBFM arrival-metering sequences; 120,071 surface-movement events</a:t>
            </a:r>
          </a:p>
          <a:p>
            <a:pPr>
              <a:defRPr sz="1800"/>
            </a:pPr>
            <a:r>
              <a:t>Deterministic 6-factor go/no-go score (288-line auditable rule engine, Part 135.609-anchored) — explainable to a client, an insurer, or a lawyer</a:t>
            </a:r>
          </a:p>
          <a:p>
            <a:pPr>
              <a:defRPr sz="1800"/>
            </a:pPr>
            <a:r>
              <a:t>51,070 Python LOC, 102 REST routes, 635 single-author commits, 218 tests (217 pass, 1 known)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Runs on ~$765 one-time hardware + ~$23-39/yr electricity; $0 data-feed fees; $0 cloud-LLM spend — measured over 25,147 logged calls, 46 days</a:t>
            </a:r>
          </a:p>
          <a:p>
            <a:pPr>
              <a:defRPr sz="1800"/>
            </a:pPr>
            <a:r>
              <a:t>Purchasable subset of live capability lists at ~$55k-113k/yr in commercial subscriptions — a floor, since the largest equivalents are quote-only</a:t>
            </a:r>
          </a:p>
          <a:p>
            <a:pPr>
              <a:defRPr sz="1800"/>
            </a:pPr>
            <a:r>
              <a:t>Honest split: actual avoided cost is ~$2.2-2.7k/yr (mostly barter); the $55k-113k figure is replacement cost for a buyer without FAA vetting — never presented as avoided spend</a:t>
            </a:r>
          </a:p>
          <a:p>
            <a:pPr>
              <a:defRPr sz="1800"/>
            </a:pPr>
            <a:r>
              <a:t>Self-hosted means client movement data never leaves the operator's premises to get the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money cannot buy — and a dispatcher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TFMS ground stops, ground-delay programs, and airspace flow programs — no commercial product sells them</a:t>
            </a:r>
          </a:p>
          <a:p>
            <a:pPr>
              <a:defRPr sz="1800"/>
            </a:pPr>
            <a:r>
              <a:t>TBFM arrival metering and ITWS terminal wind-shear alerts — none</a:t>
            </a:r>
          </a:p>
          <a:p>
            <a:pPr>
              <a:defRPr sz="1800"/>
            </a:pPr>
            <a:r>
              <a:t>Unfiltered blocked-aircraft visibility: own RF is not LADD-bound; every commercial feed obfuscates exactly the tails an executive fleet meets</a:t>
            </a:r>
          </a:p>
          <a:p>
            <a:pPr>
              <a:defRPr sz="1800"/>
            </a:pPr>
            <a:r>
              <a:t>Real airline-reported OOOI delay data tied to your own watchlist, accumulating into a permanently-owned history</a:t>
            </a:r>
          </a:p>
          <a:p>
            <a:pPr>
              <a:defRPr sz="1800"/>
            </a:pPr>
            <a:r>
              <a:t>A longitudinal operational corpus you own outright — commercial term licenses require destruction on exit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Controls re-tested live on a recurring cadence: bounded, non-destructive passes 2026-08-13 and 2026-08-24</a:t>
            </a:r>
          </a:p>
          <a:p>
            <a:pPr>
              <a:defRPr sz="1800"/>
            </a:pPr>
            <a:r>
              <a:t>Every open finding from the prior pass closed and independently re-verified — including its highest-severity issue</a:t>
            </a:r>
          </a:p>
          <a:p>
            <a:pPr>
              <a:defRPr sz="1800"/>
            </a:pPr>
            <a:r>
              <a:t>The find-fix-verify loop demonstrably works: new 08-24 findings fixed same-day and survived a hostile adversarial re-verification — nothing reopened</a:t>
            </a:r>
          </a:p>
          <a:p>
            <a:pPr>
              <a:defRPr sz="1800"/>
            </a:pPr>
            <a:r>
              <a:t>Bearer-token-only auth, hash-only credential storage, full admin audit trail, GPG-signed whole-tree execution gating</a:t>
            </a:r>
          </a:p>
          <a:p>
            <a:pPr>
              <a:defRPr sz="1800"/>
            </a:pPr>
            <a:r>
              <a:t>Stated plainly: founder-run self-assessment, not a third-party audit; no certification claimed; first external pentest is a funded roadmap item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Licensing — BSL 1.1, built around your integration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Free, always, for evaluation, development, and testing — pilot CTDI against your live dispatch stack at no cost, full source</a:t>
            </a:r>
          </a:p>
          <a:p>
            <a:pPr>
              <a:defRPr sz="1800"/>
            </a:pPr>
            <a:r>
              <a:t>Free in production for internal relay use that serves no fee-based client work (e.g. a corporate travel desk dispatching its own executives)</a:t>
            </a:r>
          </a:p>
          <a:p>
            <a:pPr>
              <a:defRPr sz="1800"/>
            </a:pPr>
            <a:r>
              <a:t>The controlling rule, stated accurately: production use in connection with any fee-based client service — even as an invisible relay step, even bundled into a retainer — requires a commercial license; for a for-hire fleet, that is the deliberate revenue boundary</a:t>
            </a:r>
          </a:p>
          <a:p>
            <a:pPr>
              <a:defRPr sz="1800"/>
            </a:pPr>
            <a:r>
              <a:t>White-labeling, hosted resale, and platform absorption always require a commercial license</a:t>
            </a:r>
          </a:p>
          <a:p>
            <a:pPr>
              <a:defRPr sz="1800"/>
            </a:pPr>
            <a:r>
              <a:t>Each version converts to GPL v3-or-later after four years (current Change Date: 2030-08-24) — protected now, credibly open later</a:t>
            </a:r>
          </a:p>
          <a:p>
            <a:pPr>
              <a:defRPr sz="1800"/>
            </a:pPr>
            <a:r>
              <a:t>Disclosed: use-grant language under legal review, not yet counsel-confirmed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— honest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LIVE and VERIFIED: six SWIM feeds, Amtrak, weather/TFR/NOTAM, watchlist alerting, on-time history and identity resolution, CPS engine, audit trail, integrity chain</a:t>
            </a:r>
          </a:p>
          <a:p>
            <a:pPr>
              <a:defRPr sz="1800"/>
            </a:pPr>
            <a:r>
              <a:t>LIVE with disclosed caveats: feeds duty-cycled under load governance on a single node (10 shed/restore cycles in ~32 h, each self-restoring — no SLA); on-time history young and watchlist-gated</a:t>
            </a:r>
          </a:p>
          <a:p>
            <a:pPr>
              <a:defRPr sz="1800"/>
            </a:pPr>
            <a:r>
              <a:t>CODE-COMPLETE, not field-proven: the LimoAnywhere/RingCentral/3CX webhook receivers — real, credential-gated code, no live vendor tenant exercised yet</a:t>
            </a:r>
          </a:p>
          <a:p>
            <a:pPr>
              <a:defRPr sz="1800"/>
            </a:pPr>
            <a:r>
              <a:t>ROADMAP / ABSENT — stated plainly: multi-tenancy, billing, backup/DR, CI, maritime AIS (fully dormant), demonstrated demand (runsheet shows one trip)</a:t>
            </a:r>
          </a:p>
          <a:p>
            <a:pPr>
              <a:defRPr sz="1800"/>
            </a:pPr>
            <a:r>
              <a:t>Withdrawn claims: MCP integration (retired 2026-08-18), always-on availability, public demo link (gating decision pending)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Pre-revenue by construction: no billing or customer-account code; the company site deliberately does not market CTDI yet</a:t>
            </a:r>
          </a:p>
          <a:p>
            <a:pPr>
              <a:defRPr sz="1800"/>
            </a:pPr>
            <a:r>
              <a:t>Reference deployment: the founder's own chauffeur operation, running continuously since June 2026 — built by the operator it serves</a:t>
            </a:r>
          </a:p>
          <a:p>
            <a:pPr>
              <a:defRPr sz="1800"/>
            </a:pPr>
            <a:r>
              <a:t>Data-rights model: each client fleet holds its own source credentials (FAA SWIM, weather); CTDI ships software, not redistributed data</a:t>
            </a:r>
          </a:p>
          <a:p>
            <a:pPr>
              <a:defRPr sz="1800"/>
            </a:pPr>
            <a:r>
              <a:t>Demo machinery real: 2.45 GB replay corpus, production isolation adversarially verified 2026-08-24; access arranged in diligence conversations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Field-prove the LimoAnywhere webhook path end-to-end with 2-3 design-partner fleets; add vendor-native HMAC verification</a:t>
            </a:r>
          </a:p>
          <a:p>
            <a:pPr>
              <a:defRPr sz="1800"/>
            </a:pPr>
            <a:r>
              <a:t>Productize: multi-tenancy, billing/entitlements, backup and DR, CI, security-hygiene closure</a:t>
            </a:r>
          </a:p>
          <a:p>
            <a:pPr>
              <a:defRPr sz="1800"/>
            </a:pPr>
            <a:r>
              <a:t>Commission a first third-party security assessment</a:t>
            </a:r>
          </a:p>
          <a:p>
            <a:pPr>
              <a:defRPr sz="1800"/>
            </a:pPr>
            <a:r>
              <a:t>Finalize BSL terms with counsel; formalize or replace community/scraped fallback data sources</a:t>
            </a:r>
          </a:p>
          <a:p>
            <a:pPr>
              <a:defRPr sz="1800"/>
            </a:pPr>
            <a:r>
              <a:t>First engineering hire to retire bus-factor-1</a:t>
            </a:r>
          </a:p>
          <a:p>
            <a:pPr>
              <a:defRPr sz="1800"/>
            </a:pPr>
            <a:r>
              <a:t>Mode expansion, founder-authoritative targets: maritime AIS by end 2026; eVTOL operational awareness spring 2027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Seed capital and/or design-partner fleets to turn a verified platform into a business</a:t>
            </a:r>
          </a:p>
          <a:p>
            <a:pPr>
              <a:defRPr sz="1800"/>
            </a:pPr>
            <a:r>
              <a:t>No valuation, revenue projection, or market-size figure is presented — the fact base does not yet support one, and we will not invent numbers</a:t>
            </a:r>
          </a:p>
          <a:p>
            <a:pPr>
              <a:defRPr sz="1800"/>
            </a:pPr>
            <a:r>
              <a:t>What you get today: a running, re-verified, integrity-gated platform; dispatch-timing data no subscription sells; a license built around the relay model; and an evidence culture built for diligence</a:t>
            </a:r>
          </a:p>
          <a:p>
            <a:pPr>
              <a:defRPr sz="1800"/>
            </a:pPr>
            <a:r>
              <a:t>Next step: live walkthrough of the production system and demo replay — info@example.com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