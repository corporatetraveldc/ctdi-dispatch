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21"/>
    <p:sldId id="271" r:id="rId22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7.xml"/><Relationship Id="rId2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5852160" cy="585216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731520"/>
            <a:ext cx="4389120" cy="438912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2926080" cy="292608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731520"/>
            <a:ext cx="1463040" cy="146304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CTDI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Travel Dispatch Intelligence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dispatch intelligence for executive transportation operators — live airspace, avionics datalink, weather, and rail awareness with zero cloud dependency.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v1.1.0 — Live Data Confirmed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Executive Services, LLC        github.com/CorporateTravelDC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teams are flying blind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travel lives or dies on conditions that change minute to minute — and most operators watch it through web-scraped data with no real aviation feed behind 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732788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TFRs appear without warning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6656" y="2103120"/>
            <a:ext cx="3538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and security flight restrictions activate with minimal notice — closing airspace and snarling surface routes around airports.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444752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173278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web-scraped sources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28616" y="2103120"/>
            <a:ext cx="3538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METARs, NOTAMs, NWS alerts, rail status, and ATCSCC plans live in a dozen portals — and consumer trackers just re-serve scraped copies of them.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18688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40156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5067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aviation feed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76656" y="3877056"/>
            <a:ext cx="3538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ADS-B-only tools show radar-derived position after the fact. Clearances, taxi state, and aircraft-health messages never reach the dispatch desk.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218688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40156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350672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engine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28616" y="3877056"/>
            <a:ext cx="3538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stay ad hoc — no scored, defensible operational state, and no archive to answer “does this happen every Friday?”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Every operational signal.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4874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7957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multi-feed monitoring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78992" y="15087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Aviation, weather, rail, and airspace data polled and pushed around the clock.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21671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8142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1122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datalink, decoded on-site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78992" y="244144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and VDL2 captured direct from the VHF band — the platform hears what the aircraft hears.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0998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411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30449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in seconds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78992" y="33741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relevant changes fire straight to dispatcher devices via ntfy.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403250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46804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3977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135.609-informed decision scoring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078992" y="43068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CPS engine converts raw conditions into a single, defensible go / no-go state.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172200" y="1188720"/>
            <a:ext cx="2514600" cy="361188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355080" y="13716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14+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6355080" y="1847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355080" y="22585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6355080" y="27340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datalink decoders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355080" y="31455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6355080" y="36210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dependencies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355080" y="403250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6355080" y="45079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Raspberry Pi 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Avionics source of truth — ACARS &amp; VDL2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CTDI decodes aircraft datalink transmissions directly off the VHF band. The platform hears what the aircraft hears — not what a tracking website republishes.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4160520" cy="2743200"/>
          </a:xfrm>
          <a:prstGeom prst="roundRect">
            <a:avLst>
              <a:gd name="adj" fmla="val 2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934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datalink carries that ADS-B never will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048256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 clearances — departure activity visible before the aircraft ever moves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state and OOOI events reported by the airframe itself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ATIS, weather uplinks, and position reports en route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and aircraft-health messages that foreshadow delays and swaps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92040" y="1444752"/>
            <a:ext cx="3794760" cy="841248"/>
          </a:xfrm>
          <a:prstGeom prst="roundRect">
            <a:avLst>
              <a:gd name="adj" fmla="val 652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56632" y="165506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1788" y="1760220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96128" y="1536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corporatetraveldc-dumpvdl2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96128" y="177393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VHF Data Link Mode 2 decoder — captures aircraft operational messages direct from the VHF band.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92040" y="2395728"/>
            <a:ext cx="3794760" cy="841248"/>
          </a:xfrm>
          <a:prstGeom prst="roundRect">
            <a:avLst>
              <a:gd name="adj" fmla="val 652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56632" y="260604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8" y="2711196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24871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corporatetraveldc-acarshub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596128" y="27249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message hub — decodes departure clearances, ATIS, weather uplinks, position reports, and maintenance messages.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892040" y="3346704"/>
            <a:ext cx="3794760" cy="841248"/>
          </a:xfrm>
          <a:prstGeom prst="roundRect">
            <a:avLst>
              <a:gd name="adj" fmla="val 652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56632" y="355701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788" y="3662172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96128" y="34381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corporatetraveldc-acarsrouter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596128" y="367588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deduplicates, and normalizes ACARS / VDL2 streams into the dispatch intelligence layer.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685800" y="437083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clearance on the datalink means wheels-up is coming — schedule-integrity signals arrive before movement. ADS-B-only systems find out after.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14+ live intelligence feeds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Pull-based polling with push-primary failover — plus an RF avionics datalink layer no web-scraped system can offer.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datalink, RF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50136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3288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VDL2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5000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VDL Mode 2, RF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3072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6224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7936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weather, 5 min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36008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Alerts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0872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wx, 5 min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28944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2096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3808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restrictions, 5 min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21880" y="1481328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5032" y="1591056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76744" y="1865376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NOTAM API, 5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plans + tracks, push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50136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923288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05000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+ terminal, push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43072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16224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7936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mgmt, push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36008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/ FNS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90872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NOTAMs, push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28944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02096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TBFM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3808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sequencing, push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21880" y="2542032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95032" y="2651760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ITWS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76744" y="2926080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weather, push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53668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226820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NWWS-OI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08532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push via XMPP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46604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19756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ADS-B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01468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aircraft, 250 NM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939540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012692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Amtrak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994404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status, push + poll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32476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05628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ATCSCC Plan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87340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NAS plan, 1 hr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725412" y="3602736"/>
            <a:ext cx="1264920" cy="896112"/>
          </a:xfrm>
          <a:prstGeom prst="roundRect">
            <a:avLst>
              <a:gd name="adj" fmla="val 51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798564" y="3712464"/>
            <a:ext cx="111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Programs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80276" y="3986784"/>
            <a:ext cx="115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/ ground stops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Highlighted: </a:t>
            </a:r>
            <a:pPr algn="ctr" indent="0" marL="0"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/ VDL2 arrive over FAA-regulated aviation datalink infrastructure, decoded locally — when a push feed connects, REST polling for that feed stands down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CPS — Critical Predictability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 / no-go engine designed around FAA Part 135.609 decision criteria — six live factors, one unambiguous answer, recomputed hourly and on demand.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1907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GO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1865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support normal operations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68296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606040"/>
            <a:ext cx="274320" cy="2743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459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/ MARGINAL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factors — heightened monitoring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3493008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346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NO-GO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outside safe operating limits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481328"/>
            <a:ext cx="3840480" cy="2487168"/>
          </a:xfrm>
          <a:prstGeom prst="roundRect">
            <a:avLst>
              <a:gd name="adj" fmla="val 2206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scored factors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74920" y="2048256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0482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2048256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0482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4920" y="2670048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6700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2670048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6700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3291840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291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/ TFRs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0" y="3291840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291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Delay Programs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2452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224528"/>
            <a:ext cx="7818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pedigree: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applies the go / no-go discipline written for on-demand air charter (14 CFR §135.609) continuously to ground operations — every state change is pushed, logged, and defensible.</a:t>
            </a:r>
            <a:r>
              <a:rPr sz="1100">
                <a:solidFill>
                  <a:srgbClr val="FFFFFF"/>
                </a:solidFill>
                <a:latin typeface="Calibri"/>
              </a:rPr>
              <a:t>  Ground Delay Program data now arrives by direct FAA push — declaration messages, seconds after issuance — not REST polling.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v1.1.0 — from wired to proven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feed that was pending FAA credentials in v1.0.0 is now confirmed live end-to-end against real production data.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18120" y="274320"/>
            <a:ext cx="566928" cy="566928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11480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0020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2B367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feeds confirmed live — FDPS, STDDS, TFMS, AIM/FNS, TBFM, ITWS all validated against real production traffic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32404" y="160020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2B3672"/>
          </a:solidFill>
          <a:ln/>
        </p:spPr>
      </p:sp>
      <p:sp>
        <p:nvSpPr>
          <p:cNvPr id="10" name="Text 7"/>
          <p:cNvSpPr/>
          <p:nvPr/>
        </p:nvSpPr>
        <p:spPr>
          <a:xfrm>
            <a:off x="3415284" y="182880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461004" y="260604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ingest interruptions — root-caused a memory issue, 62/day down to 15/day, kernel-verified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07608" y="160020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2B3672"/>
          </a:solidFill>
          <a:ln/>
        </p:spPr>
      </p:sp>
      <p:sp>
        <p:nvSpPr>
          <p:cNvPr id="13" name="Text 10"/>
          <p:cNvSpPr/>
          <p:nvPr/>
        </p:nvSpPr>
        <p:spPr>
          <a:xfrm>
            <a:off x="6190488" y="182880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236208" y="260604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new trend-escalation threshold separating a real disruption from routine noise, by sector/corridor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FDPS alone was validated against 25 real live messages across all 10 source-facility codes seen in production. New: GDP / ground-stop declarations now arrive by direct FAA push — the earliest signal that exists — plus per-flight reroute-approval status and named SID/STAR identification.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v1.0.0 → v1.1.0: from wired to proven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wired the FAA push feeds. v1.1.0 turned them on — and validated every one against live production data.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732788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FDPS &amp; ITWS: stub to validated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6656" y="2103120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Flight-plan/track and terminal-weather feeds — once stubs — confirmed live against real production traffic at DCA, IAD, and BWI.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444752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173278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TFMS: the deep cut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28616" y="2103120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/ ground-stop declarations by direct push, runway-rate/config change detection, DC-filtered ATCSCC advisories, per-flight reroute-approval status, and named SID/STAR identification.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236976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41985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52501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sector-level congestion correlation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76656" y="3895344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signals grouped by ARTCC corridor — DC, New York, Boston, St. Louis, Atlanta — with 3x-baseline trend escalation and per-sector/per-feed silencing.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236976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41985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352501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for the long haul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28616" y="3895344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Root-caused a memory-pressure issue (62/day → 15/day interruptions, ~75% fewer, kernel-verified). Alert delivery gained retry-with-backoff.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One &amp; AF1 hot-push alerts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VIP or POTUS movement TFR activates, seconds matter. CTDI watches for the signature and fires a maximum-priority push before the surface impact hits.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18120" y="274320"/>
            <a:ext cx="566928" cy="566928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11480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0020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2B367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cadence on the TFR feed — plus real-time SWIM push when connected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32404" y="160020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2B3672"/>
          </a:solidFill>
          <a:ln/>
        </p:spPr>
      </p:sp>
      <p:sp>
        <p:nvSpPr>
          <p:cNvPr id="10" name="Text 7"/>
          <p:cNvSpPr/>
          <p:nvPr/>
        </p:nvSpPr>
        <p:spPr>
          <a:xfrm>
            <a:off x="3415284" y="182880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461004" y="260604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ntfy priority — alerts break through silent and do-not-disturb modes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07608" y="1600200"/>
            <a:ext cx="2679192" cy="2057400"/>
          </a:xfrm>
          <a:prstGeom prst="roundRect">
            <a:avLst>
              <a:gd name="adj" fmla="val 3556"/>
            </a:avLst>
          </a:prstGeom>
          <a:solidFill>
            <a:srgbClr val="2B3672"/>
          </a:solidFill>
          <a:ln/>
        </p:spPr>
      </p:sp>
      <p:sp>
        <p:nvSpPr>
          <p:cNvPr id="13" name="Text 10"/>
          <p:cNvSpPr/>
          <p:nvPr/>
        </p:nvSpPr>
        <p:spPr>
          <a:xfrm>
            <a:off x="6190488" y="182880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236208" y="260604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per event — full detail to the domain topic, bottom line to dispatch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topics also cover OOOI flight events, diversions, rail delays, hazardous weather, CPS changes, and daily briefs — each on its own subscribable channel. Marine One / AF1 TFR alerting operates against FAA NOTAM and Secret Service airspace-security frameworks.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intelligence &amp; anomaly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recorder archives every feed snapshot into a rolling 52-week local dataset — under 500 MB, entirely on-device.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568196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417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archive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4128" y="17099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every 5 minutes, 24/7 — zlib-compressed, tiered retention from 2 to 52 weeks.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436876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2286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pattern surfacing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24128" y="25786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TFR windows, seasonal ground-delay exposure, rail on-time drift — invisible in real-time views.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20040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330555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Planning-grade signals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24128" y="3447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GDP frequency by airport and season feeds quarterly advisories and route recommendations.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06908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417423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4023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Zero-credential demo mode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24128" y="4315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archive replays through the live API surface — a fully real-looking client demo with no live feeds required.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577840" y="146304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80644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ARCHIVE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806440" y="2011680"/>
            <a:ext cx="2651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“Three recurring TFR activations at DCA in six weeks, consistent with Friday-morning departure windows — sufficient pattern for a standing client advisory.”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regulated industries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CTDI operates at the intersection of FAA-regulated airspace, DOT / FTA-regulated ground transport, and clients who carry compliance obligations of their own.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732788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135.609-aligned decisioning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6656" y="2103120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CPS engine is explicitly designed around FAA go / no-go criteria for on-demand air charter — every dispatch decision is scored, logged, and defensible.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444752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627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173278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6093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National-capital airspace compliance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28616" y="2103120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FRZ, SFRA, P-56, and TFR monitoring aligned to FAA NOTAM frameworks — including Marine One / AF1 movements coordinated under Secret Service airspace security.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236976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41985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52501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data infrastructure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76656" y="3895344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and VDL2 are FAA-regulated aviation communication links. The intelligence layer is built on certified datalink infrastructure — not scraped web data.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236976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41985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352501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for regulated clients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28616" y="3895344"/>
            <a:ext cx="3538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Local-first: no PII or client movement data transits third-party infrastructure. Suited to finance, legal, government contracting, healthcare, cleared personnel, and CJIS-adjacent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built for the edge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rootless Podman containers managed by systemd Quadlets — five core services around one SQLite database, plus a dedicated avionics datalink chain.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82496"/>
            <a:ext cx="1179576" cy="86868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739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2029968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API, tiered auth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64792" y="1682496"/>
            <a:ext cx="1179576" cy="86868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10512" y="17739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19656" y="2029968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scheduler + AI skills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72384" y="1682496"/>
            <a:ext cx="1179576" cy="86868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18104" y="17739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27248" y="2029968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ntfy alert dispatcher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79976" y="1682496"/>
            <a:ext cx="1179576" cy="868680"/>
          </a:xfrm>
          <a:prstGeom prst="roundRect">
            <a:avLst>
              <a:gd name="adj" fmla="val 526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25696" y="17739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029968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 / NWWS push ingest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715768"/>
            <a:ext cx="5102352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15768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 — one shared database, no external DB server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5102352" cy="804672"/>
          </a:xfrm>
          <a:prstGeom prst="roundRect">
            <a:avLst>
              <a:gd name="adj" fmla="val 568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3419856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 dashboard — globe map, ADS-B overlay, rail map, live feed panel, alert stream, local-LLM chat drawer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1371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DATALINK CHAIN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1682496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2B3672"/>
          </a:solidFill>
          <a:ln/>
        </p:spPr>
      </p:sp>
      <p:sp>
        <p:nvSpPr>
          <p:cNvPr id="23" name="Text 21"/>
          <p:cNvSpPr/>
          <p:nvPr/>
        </p:nvSpPr>
        <p:spPr>
          <a:xfrm>
            <a:off x="6062472" y="17556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dumpvdl2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6247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VDL2 decode off the VHF band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97880" y="2505456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2B3672"/>
          </a:solidFill>
          <a:ln/>
        </p:spPr>
      </p:sp>
      <p:sp>
        <p:nvSpPr>
          <p:cNvPr id="26" name="Text 24"/>
          <p:cNvSpPr/>
          <p:nvPr/>
        </p:nvSpPr>
        <p:spPr>
          <a:xfrm>
            <a:off x="6062472" y="25786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acarshub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62472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decode + message hub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97880" y="3328416"/>
            <a:ext cx="2788920" cy="658368"/>
          </a:xfrm>
          <a:prstGeom prst="roundRect">
            <a:avLst>
              <a:gd name="adj" fmla="val 6944"/>
            </a:avLst>
          </a:prstGeom>
          <a:solidFill>
            <a:srgbClr val="2B3672"/>
          </a:solidFill>
          <a:ln/>
        </p:spPr>
      </p:sp>
      <p:sp>
        <p:nvSpPr>
          <p:cNvPr id="29" name="Text 27"/>
          <p:cNvSpPr/>
          <p:nvPr/>
        </p:nvSpPr>
        <p:spPr>
          <a:xfrm>
            <a:off x="6062472" y="34015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acarsrouter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62472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 normalize → dispatch layer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97880" y="4169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feeds the same SQLite intelligence layer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watchdog service monitors undervoltage and thermals on a 90-second systemd timer — the platform tells you when the hardware is unhappy.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Local-first. Private by architecture.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691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13232" y="283464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itinerary, passenger, or movement data leaves the device. All AI inference runs on-host via Ollama — no cloud LLM key, no third-party telemetry.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280160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30168" y="158191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5324" y="1687068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24528" y="13898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24528" y="1682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Briefs, enrichment, and chat run on local models (Llama, Mistral-Nemo, Phi) — sized from an 8 GB Pi to a workstation.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2468880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7706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875788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24528" y="25786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access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224528" y="287121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auth: anonymous read, Tailscale-gated operations, hashed bearer tokens for admin. Plaintext tokens are never stored.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29000" y="3657600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30168" y="395935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324" y="4064508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24528" y="376732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224528" y="405993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log, 90-day retention, never leaves the host. Sensitive radio data is excluded from every release artifact.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on hardware you already 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target: Raspberry Pi 5 (aarch64). Verified equally on Fedora — any Linux aarch64 or x86_64 host works.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Fedora 43+ (x86_64 / ARM64)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tested reference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OS (Pi 5, aarch64)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tested reference 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 (Apple Silicon / Intel)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Podman Machine or Docker Desktop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x64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WSL2 installer; Ollama runs natively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ARM64 (Termux)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Python, lightweight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/ iPadOS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 via browser — Add to Home 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git clone to live dispatch in an afternoon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75104" cy="1481328"/>
          </a:xfrm>
          <a:prstGeom prst="roundRect">
            <a:avLst>
              <a:gd name="adj" fmla="val 370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426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repo from the CorporateTravelDC GitHub organization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1280160"/>
            <a:ext cx="1975104" cy="1481328"/>
          </a:xfrm>
          <a:prstGeom prst="roundRect">
            <a:avLst>
              <a:gd name="adj" fmla="val 370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06624" y="1426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706624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82112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setup.sh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06624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installer creates the user, configs, Quadlets, and nginx vhosts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1280160"/>
            <a:ext cx="1975104" cy="1481328"/>
          </a:xfrm>
          <a:prstGeom prst="roundRect">
            <a:avLst>
              <a:gd name="adj" fmla="val 370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91456" y="1426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6944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build-images.sh compiles all container images locally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75104" cy="1481328"/>
          </a:xfrm>
          <a:prstGeom prst="roundRect">
            <a:avLst>
              <a:gd name="adj" fmla="val 370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76288" y="1426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76288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51776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76288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start — feeds and datalink decoders come up immediately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the systems operators already run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58444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3689604"/>
            <a:ext cx="210312" cy="21031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07008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webhooks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76656" y="4059936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bookings auto-add flights and trains to the watchlist — OOOI tracking and alerts start with zero manual entry.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09160" y="340156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10328" y="358444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3689604"/>
            <a:ext cx="210312" cy="21031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458968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Regionalization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4928616" y="4059936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 points move the platform to any metro — US, European, and Asia-Pacific feed equivalents documented.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2560320" cy="256032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297680"/>
            <a:ext cx="1645920" cy="1645920"/>
          </a:xfrm>
          <a:prstGeom prst="ellipse">
            <a:avLst/>
          </a:prstGeom>
          <a:solidFill>
            <a:srgbClr val="1E2761">
              <a:alpha val="0"/>
            </a:srgbClr>
          </a:solidFill>
          <a:ln w="12700">
            <a:solidFill>
              <a:srgbClr val="3A46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intelligence,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hardware.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CTDI v1.0.0 is available now. Deploy the reference stack, run the two-week demo seed, and see your own operating area’s intelligence picture — avionics datalink included.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3756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owner@example.com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3246120"/>
            <a:ext cx="365760" cy="365760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33756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834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(571) 540-2261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813048"/>
            <a:ext cx="365760" cy="365760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0448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813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linkedin.com/in/operatorsheldon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480560" y="3813048"/>
            <a:ext cx="365760" cy="365760"/>
          </a:xfrm>
          <a:prstGeom prst="ellipse">
            <a:avLst/>
          </a:prstGeom>
          <a:solidFill>
            <a:srgbClr val="2B367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04488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83480" y="3813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github.com/CorporateTravelDC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CTDI is developed and operated by CS Executive Services, LLC.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CTDI — Corporate Travel Dispatch Intelligence v1.0.0</dc:title>
  <dc:subject>PptxGenJS Presentation</dc:subject>
  <dc:creator>CS Executive Services, LLC</dc:creator>
  <cp:lastModifiedBy>CS Executive Services, LLC</cp:lastModifiedBy>
  <cp:revision>1</cp:revision>
  <dcterms:created xsi:type="dcterms:W3CDTF">2026-07-02T03:43:00Z</dcterms:created>
  <dcterms:modified xsi:type="dcterms:W3CDTF">2026-07-02T03:43:00Z</dcterms:modified>
</cp:coreProperties>
</file>